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7" y="3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B643F6-E0AA-4E3E-8E0C-CA06940E5D99}" type="datetimeFigureOut">
              <a:rPr lang="en-IN" smtClean="0"/>
              <a:t>11-08-2025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270B6-9A3D-4A3F-9985-82CADA103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14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AA9C5-FB6C-BC91-E657-4A64A52BF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FE04BD-0244-ACC0-6FE0-E847FCCE0D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49C3B-1EA6-74F8-25BE-9B430721E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A7C53-25EC-408B-AA38-0EBE8706CFE3}" type="datetime1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E71F0-818C-4B37-9F98-B4CCEACC3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FEEF8-7975-500D-092C-3B6B351A9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22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0389B-A5D4-D837-E15F-7B6D9F7B2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B4EAC-4F63-5046-F4D7-BB20D6B72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47DA8-50D4-D55C-CFA4-9B0E31745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0F976-21A6-4FF5-A482-EEA4FDD85F77}" type="datetime1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B5DC-C219-3A74-0284-61946BC5F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BC462-D6D4-7627-8268-3BE470CE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7690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2E2A8-B1FB-1640-EEFF-F72148915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7FAD9-9AEF-5D8B-5889-DD2F16694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F3B89-C579-3AA9-50BD-60E5F3AF9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3A763-82C7-4575-9AC5-8FA40838690E}" type="datetime1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4C9C57-FD36-C875-3326-1BA775906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182C7-38DB-E195-5E4B-9CBB12F38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18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AE4B3-3402-6A1C-358B-A97542FCA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8BD011-D3A1-52C8-DCE5-C8C90CA1C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42EA7D-3B89-59F1-248B-788F3F6DC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182CE7-26EC-97A7-BC03-86DA27CF4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A433-164A-411A-9B50-2437908C094E}" type="datetime1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5A44B-0B40-BAFD-4E9B-67FFAE7C9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783076-3D2F-5410-4BE3-D6E521B23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172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C82B3-C928-657B-B2DC-9E52B37FA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43F3F-4344-18FA-4324-6ADAF9D52D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439669-F154-0BD7-FF23-23C2909E0B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2D175D-49A1-1D14-5B82-161A4034DA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5CED62-1A39-6B54-1B88-0411241E42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43C7CE-1132-754A-4079-A6BA4CFA7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E12A0-6048-4A60-AC0F-FC67BAFF92A4}" type="datetime1">
              <a:rPr lang="en-IN" smtClean="0"/>
              <a:t>11-08-2025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D74EDE-3048-9DFD-6FD6-2467E022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76FB73-CF2A-AA16-EA4D-1706A7A1D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3730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AC56B-0652-1611-A035-94461A5A1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E4B36C-E194-1C05-2A6E-11C00EDD8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C4395-9662-4B3D-861F-F6B28B79E92C}" type="datetime1">
              <a:rPr lang="en-IN" smtClean="0"/>
              <a:t>11-08-2025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6ED9EA-368A-E938-7AC1-24E05E335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BC6A5-F5D4-60A8-CADD-45AF0D33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533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762FEB-651A-86D9-C9B7-A10401006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E9AD3-79B8-4AC4-8982-4B04F8DEB9E1}" type="datetime1">
              <a:rPr lang="en-IN" smtClean="0"/>
              <a:t>11-08-2025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0CDA51-3B67-6C78-9ABF-678997A1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8546D-C4CF-96F4-F488-62C6AC803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128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0F719-F308-3902-D94B-BB7B1EF23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B95FA-14DE-463D-7E1D-D0F117E80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2CF19-2594-E9C1-21E4-BD65D898B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CF7AB-9F32-21D6-9D1B-2AF1D36F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595E1-C69F-4669-90D8-F06C274F8C4B}" type="datetime1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504BB8-40F9-D811-0E01-862C7CBB6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F074E8-F0CE-9969-D56B-7C261B54C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188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9B38-B863-8988-6675-E9FD2F95E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AF7F81-E6B2-0872-6A63-AB11CD4A0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DC26A5-838B-71E1-1D8F-355F24C583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7CA4E-5238-3D0D-7262-B396EA33F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6A559-ED06-4701-9A42-23E6C6041B77}" type="datetime1">
              <a:rPr lang="en-IN" smtClean="0"/>
              <a:t>11-08-2025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6F40AC-7EB5-9BBB-E681-C65CC1858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89B9C-4C5E-5C68-4AE4-46D2CDE4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227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5FD3F-CFEC-3357-D709-897BBDB09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022CC9-74C1-8BBC-06DA-90790E793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2EC0A-22EA-65E2-C955-10077E906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0F3E-C9BC-4CDA-A8AD-A87FF1EBC383}" type="datetime1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E7623-2899-EA5C-9243-428E56C40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12716-D8E7-3C07-EDCB-350DC8D7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774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E5058C-3D56-1D00-8FE7-D289CE230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B7EECD-3E1A-DAC4-D23F-60C32C268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CA5C91-E06A-25A9-E9D9-418B0F0BEE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06C44-54C3-49BC-84BC-77C898478CE5}" type="datetime1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656BB-9FBC-DAC9-443D-35C141824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AA49E-504A-83EC-543B-0260B2CA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1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21B3E-109F-D0B8-2DE3-5D32A9681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0119FA-C352-6EAD-D609-7447F158EF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E90EF-CFD6-FB51-478C-D7DE216F49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C8D86-DE3F-4399-8D0E-5D4EB8F2A0B8}" type="datetime1">
              <a:rPr lang="en-IN" smtClean="0"/>
              <a:t>11-08-2025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1718A-0BA5-9C7E-E3D1-07DE0E410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F3859-7EC2-C82C-14A4-1B0AA4476A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8BB35-2293-459E-A33A-A3F85048FA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103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9D67F9-4CE7-86B4-BD0B-368244D8D70B}"/>
              </a:ext>
            </a:extLst>
          </p:cNvPr>
          <p:cNvSpPr txBox="1">
            <a:spLocks/>
          </p:cNvSpPr>
          <p:nvPr/>
        </p:nvSpPr>
        <p:spPr>
          <a:xfrm>
            <a:off x="858252" y="4944979"/>
            <a:ext cx="10475495" cy="17489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Nirmala College of Engineering Technology and Management</a:t>
            </a:r>
          </a:p>
          <a:p>
            <a:pPr marL="0" indent="0" algn="ctr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Mrs Sisira K I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11.08.2025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6F80B9-9E1B-909E-2F83-C456E3014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98" y="290585"/>
            <a:ext cx="1078253" cy="14299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6FB920A-69F7-5EA4-A057-27EB1BE281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079" y="138339"/>
            <a:ext cx="1666499" cy="208750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C302A4-DFB2-E152-1298-E701546E46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871021"/>
              </p:ext>
            </p:extLst>
          </p:nvPr>
        </p:nvGraphicFramePr>
        <p:xfrm>
          <a:off x="3829556" y="3764442"/>
          <a:ext cx="4224760" cy="1114066"/>
        </p:xfrm>
        <a:graphic>
          <a:graphicData uri="http://schemas.openxmlformats.org/drawingml/2006/table">
            <a:tbl>
              <a:tblPr firstRow="1" firstCol="1" bandRow="1"/>
              <a:tblGrid>
                <a:gridCol w="2112380">
                  <a:extLst>
                    <a:ext uri="{9D8B030D-6E8A-4147-A177-3AD203B41FA5}">
                      <a16:colId xmlns:a16="http://schemas.microsoft.com/office/drawing/2014/main" val="1682716986"/>
                    </a:ext>
                  </a:extLst>
                </a:gridCol>
                <a:gridCol w="2112380">
                  <a:extLst>
                    <a:ext uri="{9D8B030D-6E8A-4147-A177-3AD203B41FA5}">
                      <a16:colId xmlns:a16="http://schemas.microsoft.com/office/drawing/2014/main" val="1220968058"/>
                    </a:ext>
                  </a:extLst>
                </a:gridCol>
              </a:tblGrid>
              <a:tr h="3768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NIE22CS019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ATHUL BABU K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71943666"/>
                  </a:ext>
                </a:extLst>
              </a:tr>
              <a:tr h="360304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NIE22CS023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</a:t>
                      </a: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ABRIEL M S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8041160"/>
                  </a:ext>
                </a:extLst>
              </a:tr>
              <a:tr h="376881">
                <a:tc>
                  <a:txBody>
                    <a:bodyPr/>
                    <a:lstStyle/>
                    <a:p>
                      <a:pPr algn="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NIE22CS028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JAYDEV JOSHY</a:t>
                      </a:r>
                      <a:endParaRPr lang="en-IN" sz="1800" b="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7542700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5C1463D-BFA8-8A53-4D63-F75C68EA1E32}"/>
              </a:ext>
            </a:extLst>
          </p:cNvPr>
          <p:cNvSpPr txBox="1">
            <a:spLocks/>
          </p:cNvSpPr>
          <p:nvPr/>
        </p:nvSpPr>
        <p:spPr>
          <a:xfrm>
            <a:off x="470097" y="321243"/>
            <a:ext cx="11251804" cy="4167261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ZEROTH REVIEW</a:t>
            </a:r>
            <a:br>
              <a:rPr lang="en-US" sz="3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9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Phase I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IN" sz="33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Illegal Garbage Dump Detection &amp; Waste Management System</a:t>
            </a:r>
            <a:endParaRPr lang="en-US" sz="3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</a:t>
            </a:r>
            <a:endParaRPr lang="en-IN" sz="3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66F8A36-1777-3D78-576C-CD07CD9CD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1197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F29C2B-2FDD-298D-CFF6-31002BC43F16}"/>
              </a:ext>
            </a:extLst>
          </p:cNvPr>
          <p:cNvSpPr/>
          <p:nvPr/>
        </p:nvSpPr>
        <p:spPr>
          <a:xfrm>
            <a:off x="0" y="1018156"/>
            <a:ext cx="12192000" cy="1640824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A3DB25-5E88-9F07-AE36-7BF0DA643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86237"/>
            <a:ext cx="10515600" cy="150971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ABSTRACT</a:t>
            </a:r>
            <a:endParaRPr lang="en-IN" sz="36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749B-9D31-787C-E645-8DF94FE00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223"/>
            <a:ext cx="10515600" cy="5316019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 system to combat illegal dumping and to bring awareness about proper waste management made using computer vision (YOLOv8), geolocation (Google Maps API), and public engagement tools.</a:t>
            </a:r>
          </a:p>
          <a:p>
            <a:pPr marL="0" indent="0" algn="ctr">
              <a:buNone/>
            </a:pPr>
            <a:endParaRPr lang="en-US" sz="3200" dirty="0">
              <a:solidFill>
                <a:srgbClr val="C0000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 algn="ctr">
              <a:buNone/>
            </a:pPr>
            <a:r>
              <a:rPr lang="en-US" sz="3500" b="1" dirty="0">
                <a:solidFill>
                  <a:srgbClr val="C0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Key Features:</a:t>
            </a:r>
          </a:p>
          <a:p>
            <a:pPr>
              <a:lnSpc>
                <a:spcPct val="100000"/>
              </a:lnSpc>
            </a:pPr>
            <a:r>
              <a:rPr lang="en-IN"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Detection: Real-time illegal dump identification via CCTV.</a:t>
            </a:r>
          </a:p>
          <a:p>
            <a:pPr>
              <a:lnSpc>
                <a:spcPct val="100000"/>
              </a:lnSpc>
            </a:pPr>
            <a:r>
              <a:rPr lang="en-IN"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Reporting: Automated alerts to authorities with GPS coordinates and snapshots.</a:t>
            </a:r>
          </a:p>
          <a:p>
            <a:pPr>
              <a:lnSpc>
                <a:spcPct val="100000"/>
              </a:lnSpc>
            </a:pPr>
            <a:r>
              <a:rPr lang="en-IN"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Map Provision: Provide maps which show legal dumping areas and frequently dumped places.</a:t>
            </a:r>
          </a:p>
          <a:p>
            <a:pPr>
              <a:lnSpc>
                <a:spcPct val="100000"/>
              </a:lnSpc>
            </a:pPr>
            <a:r>
              <a:rPr lang="en-IN" sz="3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Support: A waste management guide which helps understand the ways of proper waste disposal.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8284B-14DD-C85A-7CEB-EEF44F393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9757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54147-A2F8-0B7C-11E6-B0DE11D9D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17358"/>
            <a:ext cx="10515600" cy="2208047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PROBLEM STATEMENT</a:t>
            </a:r>
            <a:endParaRPr lang="en-IN" sz="36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0FEDA-D515-CCE4-5BAF-9D07BA078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9514"/>
            <a:ext cx="10515600" cy="514144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Illegal Waste Dumping is a Major Issue in India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Limited public access to legal disposal sites.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Lack of offender accountability.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Waste often accumulates in unauthorized/random places.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Health/environmental risks from uncontrolled waste.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Manual monitoring is inefficient and unscalable.</a:t>
            </a:r>
            <a:endParaRPr lang="en-IN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7F526D-FA86-C2B7-8A05-D037AD9A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68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15544-8C10-754C-AFFA-39944D6FB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0631"/>
            <a:ext cx="10515600" cy="649706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OBJECTIVES</a:t>
            </a:r>
            <a:endParaRPr lang="en-IN" sz="3600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245B-A227-D315-BCA8-FE10843F8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09" y="995423"/>
            <a:ext cx="11225959" cy="5360927"/>
          </a:xfrm>
        </p:spPr>
        <p:txBody>
          <a:bodyPr numCol="2"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Automate Detection:</a:t>
            </a:r>
          </a:p>
          <a:p>
            <a:pPr lvl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Detect illegal dumps using YOLOv8.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Hotspot Detection:</a:t>
            </a:r>
          </a:p>
          <a:p>
            <a:pPr lvl="1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Identify areas which go through frequent illegal dumping.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Enhance Traceability:</a:t>
            </a:r>
          </a:p>
          <a:p>
            <a:pPr lvl="1"/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License plate recognition for offenders.</a:t>
            </a:r>
            <a:endParaRPr lang="en-IN" sz="28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Awareness:</a:t>
            </a:r>
          </a:p>
          <a:p>
            <a:pPr lvl="1"/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a guide which helps users understand proper disposal of garbage.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Help Authorities:</a:t>
            </a:r>
          </a:p>
          <a:p>
            <a:pPr lvl="1"/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Share the collected offender data to the authorities.</a:t>
            </a:r>
          </a:p>
          <a:p>
            <a:pPr>
              <a:lnSpc>
                <a:spcPct val="150000"/>
              </a:lnSpc>
            </a:pPr>
            <a:r>
              <a:rPr lang="en-IN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Info on Legal Dump Areas:</a:t>
            </a:r>
          </a:p>
          <a:p>
            <a:pPr lvl="1"/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Provide a map which shows nearby legal dumping areas.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BD16E-4369-E5A8-6B67-9F84EE39E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02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3CBE0-3A91-0C38-3AB8-7927474C7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1460"/>
            <a:ext cx="10515600" cy="1716235"/>
          </a:xfrm>
        </p:spPr>
        <p:txBody>
          <a:bodyPr anchor="t"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Workflow:</a:t>
            </a:r>
            <a:endParaRPr lang="en-IN" sz="36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3A2E5-ACC2-2E5F-E67B-8574DA6D4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6925"/>
            <a:ext cx="10515600" cy="4844549"/>
          </a:xfrm>
        </p:spPr>
        <p:txBody>
          <a:bodyPr numCol="2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Input: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CCTV feeds</a:t>
            </a:r>
            <a:endParaRPr lang="en-IN" dirty="0"/>
          </a:p>
          <a:p>
            <a:pPr marL="0" indent="0">
              <a:lnSpc>
                <a:spcPct val="100000"/>
              </a:lnSpc>
              <a:buNone/>
            </a:pPr>
            <a:r>
              <a:rPr lang="en-IN" dirty="0"/>
              <a:t> </a:t>
            </a:r>
            <a:r>
              <a:rPr lang="en-IN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Process: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YOLOv8 detects illegal dumps.</a:t>
            </a:r>
          </a:p>
          <a:p>
            <a:pPr lvl="1">
              <a:lnSpc>
                <a:spcPct val="100000"/>
              </a:lnSpc>
            </a:pP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CNN identifies number plates (if visible).</a:t>
            </a:r>
          </a:p>
          <a:p>
            <a:pPr lvl="1">
              <a:lnSpc>
                <a:spcPct val="100000"/>
              </a:lnSpc>
            </a:pP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Google Maps API tags GPS coordinates.</a:t>
            </a:r>
          </a:p>
          <a:p>
            <a:pPr lvl="1">
              <a:lnSpc>
                <a:spcPct val="100000"/>
              </a:lnSpc>
            </a:pPr>
            <a:r>
              <a:rPr lang="en-IN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Hotspot analysis via clustering algorithms.</a:t>
            </a:r>
            <a:endParaRPr lang="en-IN" b="1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IN" sz="32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Output: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Automated reports to authorities.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Public dashboard with disposal site maps/disposal help.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Map which shows frequent garbage dumping areas (hotspots).</a:t>
            </a:r>
            <a:endParaRPr lang="en-IN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lnSpc>
                <a:spcPct val="100000"/>
              </a:lnSpc>
            </a:pPr>
            <a:endParaRPr lang="en-IN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80F41-67B8-9536-987E-238A8FF3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5137" y="6356349"/>
            <a:ext cx="2743200" cy="365125"/>
          </a:xfrm>
        </p:spPr>
        <p:txBody>
          <a:bodyPr/>
          <a:lstStyle/>
          <a:p>
            <a:fld id="{F5F8BB35-2293-459E-A33A-A3F85048FA16}" type="slidenum">
              <a:rPr lang="en-IN" smtClean="0"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869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3E104-378A-5EF9-4D65-19871787B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886160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16CAC6D-5E03-48C3-5BB8-A9181D8150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9106721"/>
              </p:ext>
            </p:extLst>
          </p:nvPr>
        </p:nvGraphicFramePr>
        <p:xfrm>
          <a:off x="838200" y="1478613"/>
          <a:ext cx="10515600" cy="4421808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3805989">
                  <a:extLst>
                    <a:ext uri="{9D8B030D-6E8A-4147-A177-3AD203B41FA5}">
                      <a16:colId xmlns:a16="http://schemas.microsoft.com/office/drawing/2014/main" val="2550608231"/>
                    </a:ext>
                  </a:extLst>
                </a:gridCol>
                <a:gridCol w="6709611">
                  <a:extLst>
                    <a:ext uri="{9D8B030D-6E8A-4147-A177-3AD203B41FA5}">
                      <a16:colId xmlns:a16="http://schemas.microsoft.com/office/drawing/2014/main" val="2438537053"/>
                    </a:ext>
                  </a:extLst>
                </a:gridCol>
              </a:tblGrid>
              <a:tr h="736968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COMPONENT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TOOLS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9528279"/>
                  </a:ext>
                </a:extLst>
              </a:tr>
              <a:tr h="736968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Detection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YOLOv8, OpenCV, CNN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84788"/>
                  </a:ext>
                </a:extLst>
              </a:tr>
              <a:tr h="736968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Backend/Frontend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Django/HTML-CSS/React.js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348338"/>
                  </a:ext>
                </a:extLst>
              </a:tr>
              <a:tr h="736968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Geolocation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Google Maps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6059948"/>
                  </a:ext>
                </a:extLst>
              </a:tr>
              <a:tr h="736968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Database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MySQL/</a:t>
                      </a:r>
                      <a:r>
                        <a:rPr lang="en-US" sz="2800" dirty="0" err="1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Postgre</a:t>
                      </a:r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/MongoDB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8307773"/>
                  </a:ext>
                </a:extLst>
              </a:tr>
              <a:tr h="736968">
                <a:tc>
                  <a:txBody>
                    <a:bodyPr/>
                    <a:lstStyle/>
                    <a:p>
                      <a:pPr algn="l"/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Deployment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latin typeface="Tahoma" panose="020B0604030504040204" pitchFamily="34" charset="0"/>
                          <a:ea typeface="Tahoma" panose="020B0604030504040204" pitchFamily="34" charset="0"/>
                          <a:cs typeface="Tahoma" panose="020B0604030504040204" pitchFamily="34" charset="0"/>
                        </a:rPr>
                        <a:t>AWS/Google Cloud/GitHub</a:t>
                      </a:r>
                      <a:endParaRPr lang="en-IN" sz="2800" dirty="0">
                        <a:latin typeface="Tahoma" panose="020B0604030504040204" pitchFamily="34" charset="0"/>
                        <a:ea typeface="Tahoma" panose="020B0604030504040204" pitchFamily="34" charset="0"/>
                        <a:cs typeface="Tahoma" panose="020B060403050404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55271651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0C7BA-3471-2A0D-5427-726ECCFBF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193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0220-3064-80DB-BFCA-421BDD4C5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9675"/>
            <a:ext cx="10515600" cy="673703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F0C64E-490E-470C-CE3E-23F10E5DA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0" t="4775" r="2573"/>
          <a:stretch>
            <a:fillRect/>
          </a:stretch>
        </p:blipFill>
        <p:spPr>
          <a:xfrm>
            <a:off x="5787116" y="2939970"/>
            <a:ext cx="6030639" cy="34742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62669-6701-8C47-3119-C47A4DDFC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5B5754-6A2B-C34E-01D3-AA371218ED81}"/>
              </a:ext>
            </a:extLst>
          </p:cNvPr>
          <p:cNvSpPr txBox="1"/>
          <p:nvPr/>
        </p:nvSpPr>
        <p:spPr>
          <a:xfrm>
            <a:off x="838200" y="914401"/>
            <a:ext cx="109795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Problem Addressed: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The system tackles illegal garbage dumping through AI-driven detection, geolocation tracking, and public engagement.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Innovation: </a:t>
            </a: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Combines YOLOv8 for real-time detection, CNN for offender identification, and clustering algorithms (DBSCAN/k-means) for hotspot analysis.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F4C2F-D984-F0D0-96ED-696D797DBB59}"/>
              </a:ext>
            </a:extLst>
          </p:cNvPr>
          <p:cNvSpPr txBox="1"/>
          <p:nvPr/>
        </p:nvSpPr>
        <p:spPr>
          <a:xfrm>
            <a:off x="838200" y="3452149"/>
            <a:ext cx="5257800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Impact: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Reduces environmental and health risks.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Empowers authorities with automated reporting.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Educates the public via legal disposal guides.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6497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9A348-4225-A3B6-705C-E0DDF60B9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3349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390C7-2E2C-1D34-8BBE-3865368CB3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8462"/>
            <a:ext cx="10515600" cy="5642811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[1] D. Yu et al.,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"Detection of Illegal Dumping Using YOLO,“ 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 IEEE AVSS, 2024.  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[2] E. </a:t>
            </a:r>
            <a:r>
              <a:rPr lang="en-US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Amasuomo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and J. Baird,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"The Concept of Waste and Waste Management," </a:t>
            </a:r>
            <a:r>
              <a:rPr lang="en-US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Journal of Management and Sustainability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vol. 6, no. 4, pp. 88–96, 2021.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[3] K.-C. Wong,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 </a:t>
            </a:r>
            <a:r>
              <a:rPr lang="en-US" b="1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A Short Survey on Data Clustering Algorithms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Nov. 2020. 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[4] Z. Li, F. Liu, W. Yang, S. Peng, and J. Zhou, </a:t>
            </a:r>
            <a:r>
              <a:rPr lang="en-US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"A Survey of Convolutional Neural Networks: Analysis, Applications, and Prospects," </a:t>
            </a:r>
            <a:r>
              <a:rPr lang="en-US" i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IEEE Transactions on Neural Networks and Learning Systems</a:t>
            </a: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vol. 33, no. 6, pp. 1–21, Jun. 2021.</a:t>
            </a:r>
          </a:p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[5]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Srivastava, A. Verma, and S. Sharma,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"Optical Character Recognition Techniques: A Review,"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 IEEE International Students' Conference on Electrical, Electronics and Computer Science (SCEECS)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1–6, 2022.</a:t>
            </a:r>
            <a:endParaRPr lang="en-US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177714-49FD-4EA5-1907-076343B2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8BB35-2293-459E-A33A-A3F85048FA1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8159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9F6855-C7D8-ADE0-8C95-ABD3D6395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1BBE8-41EF-9327-A54A-FBFE823D0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40142"/>
            <a:ext cx="10515600" cy="217771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929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</TotalTime>
  <Words>646</Words>
  <Application>Microsoft Office PowerPoint</Application>
  <PresentationFormat>Widescreen</PresentationFormat>
  <Paragraphs>89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Tahoma</vt:lpstr>
      <vt:lpstr>Times New Roman</vt:lpstr>
      <vt:lpstr>Office Theme</vt:lpstr>
      <vt:lpstr>PowerPoint Presentation</vt:lpstr>
      <vt:lpstr>ABSTRACT</vt:lpstr>
      <vt:lpstr>PROBLEM STATEMENT</vt:lpstr>
      <vt:lpstr>OBJECTIVES</vt:lpstr>
      <vt:lpstr>METHODOLOGY  Workflow:</vt:lpstr>
      <vt:lpstr>TECHNOLOGY STACK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Athul Babu K</dc:creator>
  <cp:lastModifiedBy>Athul Babu K</cp:lastModifiedBy>
  <cp:revision>10</cp:revision>
  <dcterms:created xsi:type="dcterms:W3CDTF">2025-08-10T13:59:20Z</dcterms:created>
  <dcterms:modified xsi:type="dcterms:W3CDTF">2025-08-11T00:38:06Z</dcterms:modified>
</cp:coreProperties>
</file>